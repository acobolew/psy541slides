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63" r:id="rId3"/>
    <p:sldId id="264" r:id="rId4"/>
    <p:sldId id="271" r:id="rId5"/>
    <p:sldId id="272" r:id="rId6"/>
    <p:sldId id="273" r:id="rId7"/>
    <p:sldId id="277" r:id="rId8"/>
    <p:sldId id="278" r:id="rId9"/>
    <p:sldId id="279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venir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4"/>
    <p:restoredTop sz="94639"/>
  </p:normalViewPr>
  <p:slideViewPr>
    <p:cSldViewPr snapToGrid="0">
      <p:cViewPr varScale="1">
        <p:scale>
          <a:sx n="118" d="100"/>
          <a:sy n="118" d="100"/>
        </p:scale>
        <p:origin x="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4" name="Shape 20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4" name="Shape 2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we're listening to "Valentine" by "atlas"</a:t>
            </a:r>
          </a:p>
          <a:p>
            <a:r>
              <a:t>submitted by Auguste!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42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0" name="Shape 4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we're listening to "Cold Heart - PNAU Remix" by "Elton John, Dua Lipa, PNAU"</a:t>
            </a:r>
          </a:p>
          <a:p>
            <a:r>
              <a:t>submitted by Bella Fascendini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1270000" y="241275"/>
            <a:ext cx="10464800" cy="1217762"/>
          </a:xfrm>
          <a:prstGeom prst="rect">
            <a:avLst/>
          </a:prstGeom>
        </p:spPr>
        <p:txBody>
          <a:bodyPr anchor="t"/>
          <a:lstStyle>
            <a:lvl1pPr algn="ctr">
              <a:defRPr sz="6000">
                <a:latin typeface="+mn-lt"/>
                <a:ea typeface="+mn-ea"/>
                <a:cs typeface="+mn-cs"/>
                <a:sym typeface="Avenir Heavy"/>
              </a:defRPr>
            </a:lvl1pPr>
          </a:lstStyle>
          <a:p>
            <a:r>
              <a:t>Title Text</a:t>
            </a:r>
          </a:p>
        </p:txBody>
      </p:sp>
      <p:sp>
        <p:nvSpPr>
          <p:cNvPr id="19" name="Image"/>
          <p:cNvSpPr>
            <a:spLocks noGrp="1"/>
          </p:cNvSpPr>
          <p:nvPr>
            <p:ph type="pic" idx="21"/>
          </p:nvPr>
        </p:nvSpPr>
        <p:spPr>
          <a:xfrm>
            <a:off x="1470400" y="1583729"/>
            <a:ext cx="10063999" cy="671457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0" name="01/01/2019"/>
          <p:cNvSpPr txBox="1">
            <a:spLocks noGrp="1"/>
          </p:cNvSpPr>
          <p:nvPr>
            <p:ph type="body" sz="quarter" idx="22"/>
          </p:nvPr>
        </p:nvSpPr>
        <p:spPr>
          <a:xfrm>
            <a:off x="5156904" y="8604250"/>
            <a:ext cx="2690992" cy="723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SzTx/>
              <a:buNone/>
            </a:lvl1pPr>
          </a:lstStyle>
          <a:p>
            <a:r>
              <a:t>01/01/2019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408475" y="9105900"/>
            <a:ext cx="453239" cy="5207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en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1270000" y="4267919"/>
            <a:ext cx="10464800" cy="121776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000">
                <a:latin typeface="+mn-lt"/>
                <a:ea typeface="+mn-ea"/>
                <a:cs typeface="+mn-cs"/>
                <a:sym typeface="Avenir Heavy"/>
              </a:defRPr>
            </a:lvl1pPr>
          </a:lstStyle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408475" y="9105900"/>
            <a:ext cx="453239" cy="5207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407899" y="9105900"/>
            <a:ext cx="453239" cy="5207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"/>
          <p:cNvSpPr txBox="1">
            <a:spLocks noGrp="1"/>
          </p:cNvSpPr>
          <p:nvPr>
            <p:ph type="body" sz="quarter" idx="21"/>
          </p:nvPr>
        </p:nvSpPr>
        <p:spPr>
          <a:xfrm>
            <a:off x="1422400" y="1333500"/>
            <a:ext cx="10160000" cy="15621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SzTx/>
              <a:buNone/>
            </a:lvl1pPr>
          </a:lstStyle>
          <a:p>
            <a:r>
              <a:t>Text</a:t>
            </a:r>
          </a:p>
        </p:txBody>
      </p:sp>
      <p:sp>
        <p:nvSpPr>
          <p:cNvPr id="45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>
            <a:spLocks noGrp="1"/>
          </p:cNvSpPr>
          <p:nvPr>
            <p:ph type="body" idx="1"/>
          </p:nvPr>
        </p:nvSpPr>
        <p:spPr>
          <a:xfrm>
            <a:off x="1422400" y="1332160"/>
            <a:ext cx="10160000" cy="7719121"/>
          </a:xfrm>
          <a:prstGeom prst="rect">
            <a:avLst/>
          </a:prstGeom>
        </p:spPr>
        <p:txBody>
          <a:bodyPr anchor="t"/>
          <a:lstStyle>
            <a:lvl1pPr marL="444500" indent="-444500">
              <a:buSzPct val="100000"/>
            </a:lvl1pPr>
            <a:lvl2pPr>
              <a:buSzPct val="100000"/>
              <a:buChar char="-"/>
            </a:lvl2pPr>
            <a:lvl3pPr>
              <a:buSzPct val="100000"/>
              <a:buChar char="-"/>
            </a:lvl3pPr>
            <a:lvl4pPr>
              <a:buSzPct val="100000"/>
              <a:buChar char="-"/>
            </a:lvl4pPr>
            <a:lvl5pPr>
              <a:buSzPct val="100000"/>
              <a:buChar char="-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text,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>
            <a:spLocks noGrp="1"/>
          </p:cNvSpPr>
          <p:nvPr>
            <p:ph type="body" sz="quarter" idx="21"/>
          </p:nvPr>
        </p:nvSpPr>
        <p:spPr>
          <a:xfrm>
            <a:off x="390177" y="1333500"/>
            <a:ext cx="5895431" cy="15621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SzTx/>
              <a:buNone/>
            </a:lvl1pPr>
          </a:lstStyle>
          <a:p>
            <a:r>
              <a:t>Text</a:t>
            </a:r>
          </a:p>
        </p:txBody>
      </p:sp>
      <p:sp>
        <p:nvSpPr>
          <p:cNvPr id="63" name="Image"/>
          <p:cNvSpPr>
            <a:spLocks noGrp="1"/>
          </p:cNvSpPr>
          <p:nvPr>
            <p:ph type="pic" sz="half" idx="22"/>
          </p:nvPr>
        </p:nvSpPr>
        <p:spPr>
          <a:xfrm>
            <a:off x="6506048" y="1347179"/>
            <a:ext cx="6193615" cy="74158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4" name="Title Text"/>
          <p:cNvSpPr txBox="1">
            <a:spLocks noGrp="1"/>
          </p:cNvSpPr>
          <p:nvPr>
            <p:ph type="body" sz="quarter" idx="23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,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"/>
          <p:cNvSpPr txBox="1">
            <a:spLocks noGrp="1"/>
          </p:cNvSpPr>
          <p:nvPr>
            <p:ph type="body" sz="quarter" idx="21"/>
          </p:nvPr>
        </p:nvSpPr>
        <p:spPr>
          <a:xfrm>
            <a:off x="390177" y="1333500"/>
            <a:ext cx="5895431" cy="1562100"/>
          </a:xfrm>
          <a:prstGeom prst="rect">
            <a:avLst/>
          </a:prstGeom>
        </p:spPr>
        <p:txBody>
          <a:bodyPr anchor="t">
            <a:spAutoFit/>
          </a:bodyPr>
          <a:lstStyle>
            <a:lvl1pPr marL="381000" indent="-381000">
              <a:buSzPct val="100000"/>
            </a:lvl1pPr>
          </a:lstStyle>
          <a:p>
            <a:r>
              <a:t>Text</a:t>
            </a:r>
          </a:p>
        </p:txBody>
      </p:sp>
      <p:sp>
        <p:nvSpPr>
          <p:cNvPr id="73" name="Image"/>
          <p:cNvSpPr>
            <a:spLocks noGrp="1"/>
          </p:cNvSpPr>
          <p:nvPr>
            <p:ph type="pic" sz="half" idx="22"/>
          </p:nvPr>
        </p:nvSpPr>
        <p:spPr>
          <a:xfrm>
            <a:off x="6506048" y="1347179"/>
            <a:ext cx="6193615" cy="74158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4" name="Title Text"/>
          <p:cNvSpPr txBox="1">
            <a:spLocks noGrp="1"/>
          </p:cNvSpPr>
          <p:nvPr>
            <p:ph type="body" sz="quarter" idx="23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Image"/>
          <p:cNvSpPr>
            <a:spLocks noGrp="1"/>
          </p:cNvSpPr>
          <p:nvPr>
            <p:ph type="pic" sz="half" idx="21"/>
          </p:nvPr>
        </p:nvSpPr>
        <p:spPr>
          <a:xfrm>
            <a:off x="6779728" y="1343322"/>
            <a:ext cx="6210211" cy="4143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3" name="Image"/>
          <p:cNvSpPr>
            <a:spLocks noGrp="1"/>
          </p:cNvSpPr>
          <p:nvPr>
            <p:ph type="pic" sz="half" idx="22"/>
          </p:nvPr>
        </p:nvSpPr>
        <p:spPr>
          <a:xfrm>
            <a:off x="6779728" y="5508922"/>
            <a:ext cx="6210211" cy="4143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half" idx="23"/>
          </p:nvPr>
        </p:nvSpPr>
        <p:spPr>
          <a:xfrm>
            <a:off x="420538" y="1332160"/>
            <a:ext cx="6482359" cy="4086325"/>
          </a:xfrm>
          <a:prstGeom prst="rect">
            <a:avLst/>
          </a:prstGeom>
        </p:spPr>
        <p:txBody>
          <a:bodyPr anchor="t"/>
          <a:lstStyle>
            <a:lvl1pPr marL="444500" indent="-444500">
              <a:buSzPct val="100000"/>
            </a:lvl1pPr>
            <a:lvl2pPr>
              <a:buSzPct val="100000"/>
              <a:buChar char="-"/>
            </a:lvl2pPr>
            <a:lvl3pPr>
              <a:buSzPct val="100000"/>
              <a:buChar char="-"/>
            </a:lvl3pPr>
            <a:lvl4pPr>
              <a:buSzPct val="100000"/>
              <a:buChar char="-"/>
            </a:lvl4pPr>
            <a:lvl5pPr>
              <a:buSzPct val="100000"/>
              <a:buChar char="-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24"/>
          </p:nvPr>
        </p:nvSpPr>
        <p:spPr>
          <a:xfrm>
            <a:off x="420538" y="5497760"/>
            <a:ext cx="6482359" cy="4086325"/>
          </a:xfrm>
          <a:prstGeom prst="rect">
            <a:avLst/>
          </a:prstGeom>
        </p:spPr>
        <p:txBody>
          <a:bodyPr anchor="t"/>
          <a:lstStyle>
            <a:lvl1pPr marL="444500" indent="-444500">
              <a:buSzPct val="100000"/>
            </a:lvl1pPr>
            <a:lvl2pPr>
              <a:buSzPct val="100000"/>
              <a:buChar char="-"/>
            </a:lvl2pPr>
            <a:lvl3pPr>
              <a:buSzPct val="100000"/>
              <a:buChar char="-"/>
            </a:lvl3pPr>
            <a:lvl4pPr>
              <a:buSzPct val="100000"/>
              <a:buChar char="-"/>
            </a:lvl4pPr>
            <a:lvl5pPr>
              <a:buSzPct val="100000"/>
              <a:buChar char="-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body" sz="quarter" idx="25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Image"/>
          <p:cNvSpPr>
            <a:spLocks noGrp="1"/>
          </p:cNvSpPr>
          <p:nvPr>
            <p:ph type="pic" idx="21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 figur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-20583" y="1076660"/>
            <a:ext cx="13045783" cy="870398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Image"/>
          <p:cNvSpPr>
            <a:spLocks noGrp="1"/>
          </p:cNvSpPr>
          <p:nvPr>
            <p:ph type="pic" sz="half" idx="21"/>
          </p:nvPr>
        </p:nvSpPr>
        <p:spPr>
          <a:xfrm>
            <a:off x="6071902" y="24955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2" name="Image"/>
          <p:cNvSpPr>
            <a:spLocks noGrp="1"/>
          </p:cNvSpPr>
          <p:nvPr>
            <p:ph type="pic" sz="half" idx="22"/>
          </p:nvPr>
        </p:nvSpPr>
        <p:spPr>
          <a:xfrm>
            <a:off x="-362196" y="24955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 figur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mage"/>
          <p:cNvSpPr>
            <a:spLocks noGrp="1"/>
          </p:cNvSpPr>
          <p:nvPr>
            <p:ph type="pic" sz="half" idx="21"/>
          </p:nvPr>
        </p:nvSpPr>
        <p:spPr>
          <a:xfrm>
            <a:off x="6071902" y="24955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Image"/>
          <p:cNvSpPr>
            <a:spLocks noGrp="1"/>
          </p:cNvSpPr>
          <p:nvPr>
            <p:ph type="pic" sz="half" idx="22"/>
          </p:nvPr>
        </p:nvSpPr>
        <p:spPr>
          <a:xfrm>
            <a:off x="-362196" y="24955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2" name="Title Text"/>
          <p:cNvSpPr txBox="1">
            <a:spLocks noGrp="1"/>
          </p:cNvSpPr>
          <p:nvPr>
            <p:ph type="body" sz="quarter" idx="23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Image"/>
          <p:cNvSpPr>
            <a:spLocks noGrp="1"/>
          </p:cNvSpPr>
          <p:nvPr>
            <p:ph type="pic" sz="half" idx="21"/>
          </p:nvPr>
        </p:nvSpPr>
        <p:spPr>
          <a:xfrm>
            <a:off x="6475592" y="428922"/>
            <a:ext cx="6598350" cy="44023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1" name="Image"/>
          <p:cNvSpPr>
            <a:spLocks noGrp="1"/>
          </p:cNvSpPr>
          <p:nvPr>
            <p:ph type="pic" sz="half" idx="22"/>
          </p:nvPr>
        </p:nvSpPr>
        <p:spPr>
          <a:xfrm>
            <a:off x="3203159" y="5162550"/>
            <a:ext cx="6598350" cy="440233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2" name="Image"/>
          <p:cNvSpPr>
            <a:spLocks noGrp="1"/>
          </p:cNvSpPr>
          <p:nvPr>
            <p:ph type="pic" sz="half" idx="23"/>
          </p:nvPr>
        </p:nvSpPr>
        <p:spPr>
          <a:xfrm>
            <a:off x="-26808" y="428922"/>
            <a:ext cx="6598350" cy="44023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igur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Image"/>
          <p:cNvSpPr>
            <a:spLocks noGrp="1"/>
          </p:cNvSpPr>
          <p:nvPr>
            <p:ph type="pic" sz="half" idx="21"/>
          </p:nvPr>
        </p:nvSpPr>
        <p:spPr>
          <a:xfrm>
            <a:off x="6589228" y="1190922"/>
            <a:ext cx="6210211" cy="4143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1" name="Image"/>
          <p:cNvSpPr>
            <a:spLocks noGrp="1"/>
          </p:cNvSpPr>
          <p:nvPr>
            <p:ph type="pic" sz="half" idx="22"/>
          </p:nvPr>
        </p:nvSpPr>
        <p:spPr>
          <a:xfrm>
            <a:off x="3397360" y="5480050"/>
            <a:ext cx="6210212" cy="414337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2" name="Image"/>
          <p:cNvSpPr>
            <a:spLocks noGrp="1"/>
          </p:cNvSpPr>
          <p:nvPr>
            <p:ph type="pic" sz="half" idx="23"/>
          </p:nvPr>
        </p:nvSpPr>
        <p:spPr>
          <a:xfrm>
            <a:off x="239227" y="1190922"/>
            <a:ext cx="6210212" cy="4143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3" name="Title Text"/>
          <p:cNvSpPr txBox="1">
            <a:spLocks noGrp="1"/>
          </p:cNvSpPr>
          <p:nvPr>
            <p:ph type="body" sz="quarter" idx="24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1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Image"/>
          <p:cNvSpPr>
            <a:spLocks noGrp="1"/>
          </p:cNvSpPr>
          <p:nvPr>
            <p:ph type="pic" sz="half" idx="21"/>
          </p:nvPr>
        </p:nvSpPr>
        <p:spPr>
          <a:xfrm>
            <a:off x="6071902" y="952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2" name="Image"/>
          <p:cNvSpPr>
            <a:spLocks noGrp="1"/>
          </p:cNvSpPr>
          <p:nvPr>
            <p:ph type="pic" sz="half" idx="22"/>
          </p:nvPr>
        </p:nvSpPr>
        <p:spPr>
          <a:xfrm>
            <a:off x="-362196" y="952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3" name="Image"/>
          <p:cNvSpPr>
            <a:spLocks noGrp="1"/>
          </p:cNvSpPr>
          <p:nvPr>
            <p:ph type="pic" sz="half" idx="23"/>
          </p:nvPr>
        </p:nvSpPr>
        <p:spPr>
          <a:xfrm>
            <a:off x="6080653" y="49339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4" name="Image"/>
          <p:cNvSpPr>
            <a:spLocks noGrp="1"/>
          </p:cNvSpPr>
          <p:nvPr>
            <p:ph type="pic" sz="half" idx="24"/>
          </p:nvPr>
        </p:nvSpPr>
        <p:spPr>
          <a:xfrm>
            <a:off x="-353445" y="4933950"/>
            <a:ext cx="7277592" cy="4855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 figur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Image"/>
          <p:cNvSpPr>
            <a:spLocks noGrp="1"/>
          </p:cNvSpPr>
          <p:nvPr>
            <p:ph type="pic" sz="half" idx="21"/>
          </p:nvPr>
        </p:nvSpPr>
        <p:spPr>
          <a:xfrm>
            <a:off x="6589228" y="1190922"/>
            <a:ext cx="6210211" cy="4143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3" name="Title Text"/>
          <p:cNvSpPr txBox="1"/>
          <p:nvPr/>
        </p:nvSpPr>
        <p:spPr>
          <a:xfrm>
            <a:off x="952500" y="50800"/>
            <a:ext cx="11099800" cy="1016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164" name="Image"/>
          <p:cNvSpPr>
            <a:spLocks noGrp="1"/>
          </p:cNvSpPr>
          <p:nvPr>
            <p:ph type="pic" sz="half" idx="22"/>
          </p:nvPr>
        </p:nvSpPr>
        <p:spPr>
          <a:xfrm>
            <a:off x="239227" y="5480050"/>
            <a:ext cx="6210212" cy="414337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5" name="Image"/>
          <p:cNvSpPr>
            <a:spLocks noGrp="1"/>
          </p:cNvSpPr>
          <p:nvPr>
            <p:ph type="pic" sz="half" idx="23"/>
          </p:nvPr>
        </p:nvSpPr>
        <p:spPr>
          <a:xfrm>
            <a:off x="239227" y="1190922"/>
            <a:ext cx="6210212" cy="41433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6" name="Image"/>
          <p:cNvSpPr>
            <a:spLocks noGrp="1"/>
          </p:cNvSpPr>
          <p:nvPr>
            <p:ph type="pic" sz="half" idx="24"/>
          </p:nvPr>
        </p:nvSpPr>
        <p:spPr>
          <a:xfrm>
            <a:off x="6589228" y="5480050"/>
            <a:ext cx="6210211" cy="414337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Text"/>
          <p:cNvSpPr txBox="1">
            <a:spLocks noGrp="1"/>
          </p:cNvSpPr>
          <p:nvPr>
            <p:ph type="title"/>
          </p:nvPr>
        </p:nvSpPr>
        <p:spPr>
          <a:xfrm>
            <a:off x="1270000" y="241275"/>
            <a:ext cx="10464800" cy="1217762"/>
          </a:xfrm>
          <a:prstGeom prst="rect">
            <a:avLst/>
          </a:prstGeom>
        </p:spPr>
        <p:txBody>
          <a:bodyPr anchor="t"/>
          <a:lstStyle>
            <a:lvl1pPr algn="ctr">
              <a:defRPr sz="6000">
                <a:latin typeface="+mn-lt"/>
                <a:ea typeface="+mn-ea"/>
                <a:cs typeface="+mn-cs"/>
                <a:sym typeface="Avenir Heavy"/>
              </a:defRPr>
            </a:lvl1pPr>
          </a:lstStyle>
          <a:p>
            <a:r>
              <a:t>Title Text</a:t>
            </a:r>
          </a:p>
        </p:txBody>
      </p:sp>
      <p:sp>
        <p:nvSpPr>
          <p:cNvPr id="175" name="Image"/>
          <p:cNvSpPr>
            <a:spLocks noGrp="1"/>
          </p:cNvSpPr>
          <p:nvPr>
            <p:ph type="pic" idx="21"/>
          </p:nvPr>
        </p:nvSpPr>
        <p:spPr>
          <a:xfrm>
            <a:off x="1470400" y="1583729"/>
            <a:ext cx="10063999" cy="671457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76" name="01/01/2019"/>
          <p:cNvSpPr txBox="1">
            <a:spLocks noGrp="1"/>
          </p:cNvSpPr>
          <p:nvPr>
            <p:ph type="body" sz="quarter" idx="22"/>
          </p:nvPr>
        </p:nvSpPr>
        <p:spPr>
          <a:xfrm>
            <a:off x="5156904" y="8604250"/>
            <a:ext cx="2690992" cy="723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01/01/2019</a:t>
            </a:r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408475" y="9105900"/>
            <a:ext cx="453239" cy="5207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Text"/>
          <p:cNvSpPr txBox="1">
            <a:spLocks noGrp="1"/>
          </p:cNvSpPr>
          <p:nvPr>
            <p:ph type="title"/>
          </p:nvPr>
        </p:nvSpPr>
        <p:spPr>
          <a:xfrm>
            <a:off x="1270000" y="241275"/>
            <a:ext cx="10464800" cy="1217762"/>
          </a:xfrm>
          <a:prstGeom prst="rect">
            <a:avLst/>
          </a:prstGeom>
        </p:spPr>
        <p:txBody>
          <a:bodyPr anchor="t"/>
          <a:lstStyle>
            <a:lvl1pPr algn="ctr">
              <a:defRPr sz="6000">
                <a:latin typeface="+mn-lt"/>
                <a:ea typeface="+mn-ea"/>
                <a:cs typeface="+mn-cs"/>
                <a:sym typeface="Avenir Heavy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Image"/>
          <p:cNvSpPr>
            <a:spLocks noGrp="1"/>
          </p:cNvSpPr>
          <p:nvPr>
            <p:ph type="pic" idx="21"/>
          </p:nvPr>
        </p:nvSpPr>
        <p:spPr>
          <a:xfrm>
            <a:off x="1470400" y="1583729"/>
            <a:ext cx="10063999" cy="671457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86" name="01/01/2019"/>
          <p:cNvSpPr txBox="1">
            <a:spLocks noGrp="1"/>
          </p:cNvSpPr>
          <p:nvPr>
            <p:ph type="body" sz="quarter" idx="22"/>
          </p:nvPr>
        </p:nvSpPr>
        <p:spPr>
          <a:xfrm>
            <a:off x="5156904" y="8604250"/>
            <a:ext cx="2690992" cy="723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SzTx/>
              <a:buNone/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01/01/2019</a:t>
            </a:r>
          </a:p>
        </p:txBody>
      </p:sp>
      <p:sp>
        <p:nvSpPr>
          <p:cNvPr id="1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408475" y="9105900"/>
            <a:ext cx="453239" cy="5207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,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"/>
          <p:cNvSpPr txBox="1">
            <a:spLocks noGrp="1"/>
          </p:cNvSpPr>
          <p:nvPr>
            <p:ph type="body" sz="quarter" idx="21"/>
          </p:nvPr>
        </p:nvSpPr>
        <p:spPr>
          <a:xfrm>
            <a:off x="390177" y="1333500"/>
            <a:ext cx="5895431" cy="1562100"/>
          </a:xfrm>
          <a:prstGeom prst="rect">
            <a:avLst/>
          </a:prstGeom>
        </p:spPr>
        <p:txBody>
          <a:bodyPr anchor="t">
            <a:spAutoFit/>
          </a:bodyPr>
          <a:lstStyle>
            <a:lvl1pPr marL="381000" indent="-381000">
              <a:buSzPct val="100000"/>
            </a:lvl1pPr>
          </a:lstStyle>
          <a:p>
            <a:r>
              <a:t>Text</a:t>
            </a:r>
          </a:p>
        </p:txBody>
      </p:sp>
      <p:sp>
        <p:nvSpPr>
          <p:cNvPr id="195" name="cynthia_tobi.jpg"/>
          <p:cNvSpPr>
            <a:spLocks noGrp="1"/>
          </p:cNvSpPr>
          <p:nvPr>
            <p:ph type="pic" idx="22"/>
          </p:nvPr>
        </p:nvSpPr>
        <p:spPr>
          <a:xfrm>
            <a:off x="6506048" y="510664"/>
            <a:ext cx="6193615" cy="825233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96" name="Title Text"/>
          <p:cNvSpPr txBox="1">
            <a:spLocks noGrp="1"/>
          </p:cNvSpPr>
          <p:nvPr>
            <p:ph type="body" sz="quarter" idx="23"/>
          </p:nvPr>
        </p:nvSpPr>
        <p:spPr>
          <a:xfrm>
            <a:off x="254000" y="50800"/>
            <a:ext cx="11099800" cy="101659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/>
            </a:lvl1pPr>
          </a:lstStyle>
          <a:p>
            <a:r>
              <a:t>Title Text</a:t>
            </a:r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45775" y="9296400"/>
            <a:ext cx="453239" cy="5207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1pPr>
      <a:lvl2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2pPr>
      <a:lvl3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3pPr>
      <a:lvl4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4pPr>
      <a:lvl5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5pPr>
      <a:lvl6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6pPr>
      <a:lvl7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7pPr>
      <a:lvl8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8pPr>
      <a:lvl9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9pPr>
    </p:titleStyle>
    <p:bodyStyle>
      <a:lvl1pPr marL="5000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1pPr>
      <a:lvl2pPr marL="9445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2pPr>
      <a:lvl3pPr marL="13890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3pPr>
      <a:lvl4pPr marL="18335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4pPr>
      <a:lvl5pPr marL="22780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5pPr>
      <a:lvl6pPr marL="27225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6pPr>
      <a:lvl7pPr marL="31670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7pPr>
      <a:lvl8pPr marL="36115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8pPr>
      <a:lvl9pPr marL="4056062" marR="0" indent="-500062" algn="l" defTabSz="58420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4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Book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1pPr>
      <a:lvl2pPr marL="0" marR="0" indent="228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2pPr>
      <a:lvl3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3pPr>
      <a:lvl4pPr marL="0" marR="0" indent="685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4pPr>
      <a:lvl5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5pPr>
      <a:lvl6pPr marL="0" marR="0" indent="1143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6pPr>
      <a:lvl7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7pPr>
      <a:lvl8pPr marL="0" marR="0" indent="1600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8pPr>
      <a:lvl9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t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0.gi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Wrangling data 1"/>
          <p:cNvSpPr txBox="1">
            <a:spLocks noGrp="1"/>
          </p:cNvSpPr>
          <p:nvPr>
            <p:ph type="title"/>
          </p:nvPr>
        </p:nvSpPr>
        <p:spPr>
          <a:xfrm>
            <a:off x="1270000" y="660518"/>
            <a:ext cx="10464800" cy="1217762"/>
          </a:xfrm>
          <a:prstGeom prst="rect">
            <a:avLst/>
          </a:prstGeom>
        </p:spPr>
        <p:txBody>
          <a:bodyPr/>
          <a:lstStyle/>
          <a:p>
            <a:r>
              <a:t>Wrangling data 1</a:t>
            </a:r>
          </a:p>
        </p:txBody>
      </p:sp>
      <p:sp>
        <p:nvSpPr>
          <p:cNvPr id="207" name="01/17/2024"/>
          <p:cNvSpPr txBox="1">
            <a:spLocks noGrp="1"/>
          </p:cNvSpPr>
          <p:nvPr>
            <p:ph type="body" idx="22"/>
          </p:nvPr>
        </p:nvSpPr>
        <p:spPr>
          <a:xfrm>
            <a:off x="10163854" y="8863729"/>
            <a:ext cx="2690992" cy="723901"/>
          </a:xfrm>
          <a:prstGeom prst="rect">
            <a:avLst/>
          </a:prstGeom>
        </p:spPr>
        <p:txBody>
          <a:bodyPr/>
          <a:lstStyle/>
          <a:p>
            <a:r>
              <a:rPr dirty="0"/>
              <a:t>0</a:t>
            </a:r>
            <a:r>
              <a:rPr lang="en-US" dirty="0"/>
              <a:t>2</a:t>
            </a:r>
            <a:r>
              <a:rPr dirty="0"/>
              <a:t>/1</a:t>
            </a:r>
            <a:r>
              <a:rPr lang="en-US" dirty="0"/>
              <a:t>2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208" name="PSYCH 252: Statistical Methods for Behavioral and Social Sciences"/>
          <p:cNvSpPr txBox="1"/>
          <p:nvPr/>
        </p:nvSpPr>
        <p:spPr>
          <a:xfrm>
            <a:off x="156863" y="75043"/>
            <a:ext cx="11185754" cy="610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r>
              <a:rPr lang="en-US" dirty="0"/>
              <a:t>PSY 541: Advanced Psychological Statistics and Methods II</a:t>
            </a:r>
          </a:p>
        </p:txBody>
      </p:sp>
      <p:pic>
        <p:nvPicPr>
          <p:cNvPr id="212" name="big_data.png" descr="big_dat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91867" y="1814221"/>
            <a:ext cx="6620934" cy="496570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Logistic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Logistics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577368" y="9105900"/>
            <a:ext cx="283770" cy="520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254" name="Group"/>
          <p:cNvGrpSpPr/>
          <p:nvPr/>
        </p:nvGrpSpPr>
        <p:grpSpPr>
          <a:xfrm>
            <a:off x="1339750" y="1442110"/>
            <a:ext cx="3805379" cy="4545941"/>
            <a:chOff x="0" y="0"/>
            <a:chExt cx="3805377" cy="4545939"/>
          </a:xfrm>
        </p:grpSpPr>
        <p:pic>
          <p:nvPicPr>
            <p:cNvPr id="252" name="Screen Shot 2020-01-17 at 11.30.44.png" descr="Screen Shot 2020-01-17 at 11.30.44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805378" cy="3830331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253" name="cool experiment"/>
            <p:cNvSpPr txBox="1"/>
            <p:nvPr/>
          </p:nvSpPr>
          <p:spPr>
            <a:xfrm>
              <a:off x="355775" y="3822039"/>
              <a:ext cx="3433116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cool experiment</a:t>
              </a:r>
            </a:p>
          </p:txBody>
        </p:sp>
      </p:grpSp>
      <p:grpSp>
        <p:nvGrpSpPr>
          <p:cNvPr id="258" name="Group"/>
          <p:cNvGrpSpPr/>
          <p:nvPr/>
        </p:nvGrpSpPr>
        <p:grpSpPr>
          <a:xfrm>
            <a:off x="5303622" y="2552700"/>
            <a:ext cx="5222722" cy="3854451"/>
            <a:chOff x="-50800" y="0"/>
            <a:chExt cx="5222721" cy="3854450"/>
          </a:xfrm>
        </p:grpSpPr>
        <p:pic>
          <p:nvPicPr>
            <p:cNvPr id="255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5377" y="0"/>
              <a:ext cx="3175001" cy="314960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256" name="messy dataset"/>
            <p:cNvSpPr txBox="1"/>
            <p:nvPr/>
          </p:nvSpPr>
          <p:spPr>
            <a:xfrm>
              <a:off x="2170403" y="3130550"/>
              <a:ext cx="3001519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messy dataset</a:t>
              </a:r>
            </a:p>
          </p:txBody>
        </p:sp>
        <p:pic>
          <p:nvPicPr>
            <p:cNvPr id="263" name="Connection Line" descr="Connection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0800" y="695240"/>
              <a:ext cx="1834853" cy="860296"/>
            </a:xfrm>
            <a:prstGeom prst="rect">
              <a:avLst/>
            </a:prstGeom>
            <a:effectLst/>
          </p:spPr>
        </p:pic>
      </p:grpSp>
      <p:grpSp>
        <p:nvGrpSpPr>
          <p:cNvPr id="262" name="Group"/>
          <p:cNvGrpSpPr/>
          <p:nvPr/>
        </p:nvGrpSpPr>
        <p:grpSpPr>
          <a:xfrm>
            <a:off x="787400" y="6370966"/>
            <a:ext cx="9092954" cy="3147685"/>
            <a:chOff x="0" y="-50800"/>
            <a:chExt cx="9092953" cy="3147683"/>
          </a:xfrm>
        </p:grpSpPr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817490"/>
              <a:ext cx="8050194" cy="158834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260" name="neat plot!"/>
            <p:cNvSpPr txBox="1"/>
            <p:nvPr/>
          </p:nvSpPr>
          <p:spPr>
            <a:xfrm>
              <a:off x="6038925" y="2372983"/>
              <a:ext cx="2077975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neat plot!</a:t>
              </a:r>
            </a:p>
          </p:txBody>
        </p:sp>
        <p:pic>
          <p:nvPicPr>
            <p:cNvPr id="265" name="Connection Line" descr="Connection Lin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4977" y="-50800"/>
              <a:ext cx="957977" cy="178891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1" animBg="1" advAuto="0"/>
      <p:bldP spid="258" grpId="2" animBg="1" advAuto="0"/>
      <p:bldP spid="262" grpId="3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Learn the keyboard shortcuts!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Learn the keyboard shortcuts!</a:t>
            </a:r>
          </a:p>
        </p:txBody>
      </p:sp>
      <p:pic>
        <p:nvPicPr>
          <p:cNvPr id="3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43" y="1308100"/>
            <a:ext cx="10930514" cy="3405718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grpSp>
        <p:nvGrpSpPr>
          <p:cNvPr id="311" name="Group"/>
          <p:cNvGrpSpPr/>
          <p:nvPr/>
        </p:nvGrpSpPr>
        <p:grpSpPr>
          <a:xfrm>
            <a:off x="209626" y="5554622"/>
            <a:ext cx="12121175" cy="3724356"/>
            <a:chOff x="0" y="0"/>
            <a:chExt cx="12121174" cy="3724354"/>
          </a:xfrm>
        </p:grpSpPr>
        <p:pic>
          <p:nvPicPr>
            <p:cNvPr id="308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8074" y="0"/>
              <a:ext cx="5333101" cy="372435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30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8573" y="65127"/>
              <a:ext cx="3251201" cy="3594101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310" name="... and make your own"/>
            <p:cNvSpPr txBox="1"/>
            <p:nvPr/>
          </p:nvSpPr>
          <p:spPr>
            <a:xfrm>
              <a:off x="0" y="58777"/>
              <a:ext cx="2800274" cy="1346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/>
            </a:lstStyle>
            <a:p>
              <a:r>
                <a:t>... and make your own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formatting cod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Reformatting code</a:t>
            </a:r>
          </a:p>
        </p:txBody>
      </p:sp>
      <p:sp>
        <p:nvSpPr>
          <p:cNvPr id="314" name="1 ggplot(data = df.diamonds[1:150,], mapping = aes(x = color, y = price)) +…"/>
          <p:cNvSpPr txBox="1"/>
          <p:nvPr/>
        </p:nvSpPr>
        <p:spPr>
          <a:xfrm>
            <a:off x="266700" y="1219199"/>
            <a:ext cx="8571955" cy="375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1 </a:t>
            </a:r>
            <a:r>
              <a:rPr b="1">
                <a:solidFill>
                  <a:srgbClr val="000000"/>
                </a:solidFill>
              </a:rPr>
              <a:t>ggplot</a:t>
            </a:r>
            <a:r>
              <a:rPr>
                <a:solidFill>
                  <a:srgbClr val="000000"/>
                </a:solidFill>
              </a:rPr>
              <a:t>(data = df.diamonds[</a:t>
            </a:r>
            <a:r>
              <a:rPr>
                <a:solidFill>
                  <a:srgbClr val="3127CD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:</a:t>
            </a:r>
            <a:r>
              <a:rPr>
                <a:solidFill>
                  <a:srgbClr val="3127CD"/>
                </a:solidFill>
              </a:rPr>
              <a:t>150</a:t>
            </a:r>
            <a:r>
              <a:rPr>
                <a:solidFill>
                  <a:srgbClr val="000000"/>
                </a:solidFill>
              </a:rPr>
              <a:t>,], mapping = </a:t>
            </a:r>
            <a:r>
              <a:rPr b="1">
                <a:solidFill>
                  <a:srgbClr val="000000"/>
                </a:solidFill>
              </a:rPr>
              <a:t>aes</a:t>
            </a:r>
            <a:r>
              <a:rPr>
                <a:solidFill>
                  <a:srgbClr val="000000"/>
                </a:solidFill>
              </a:rPr>
              <a:t>(x = color, y = price)) +</a:t>
            </a:r>
          </a:p>
          <a:p>
            <a:pPr defTabSz="457200">
              <a:defRPr sz="14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2   </a:t>
            </a:r>
            <a:r>
              <a:t># individual data points (jittered horizontally)</a:t>
            </a:r>
            <a:endParaRPr>
              <a:solidFill>
                <a:srgbClr val="000000"/>
              </a:solidFill>
            </a:endParaRP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3       </a:t>
            </a:r>
            <a:r>
              <a:rPr b="1">
                <a:solidFill>
                  <a:srgbClr val="000000"/>
                </a:solidFill>
              </a:rPr>
              <a:t>geom_point</a:t>
            </a:r>
            <a:r>
              <a:rPr>
                <a:solidFill>
                  <a:srgbClr val="000000"/>
                </a:solidFill>
              </a:rPr>
              <a:t>(alpha = </a:t>
            </a:r>
            <a:r>
              <a:rPr>
                <a:solidFill>
                  <a:srgbClr val="3127CD"/>
                </a:solidFill>
              </a:rPr>
              <a:t>0.2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4                   position = </a:t>
            </a:r>
            <a:r>
              <a:rPr b="1">
                <a:solidFill>
                  <a:srgbClr val="000000"/>
                </a:solidFill>
              </a:rPr>
              <a:t>position_jitter</a:t>
            </a:r>
            <a:r>
              <a:rPr>
                <a:solidFill>
                  <a:srgbClr val="000000"/>
                </a:solidFill>
              </a:rPr>
              <a:t>(width = </a:t>
            </a:r>
            <a:r>
              <a:rPr>
                <a:solidFill>
                  <a:srgbClr val="3127CD"/>
                </a:solidFill>
              </a:rPr>
              <a:t>0.1</a:t>
            </a:r>
            <a:r>
              <a:rPr>
                <a:solidFill>
                  <a:srgbClr val="000000"/>
                </a:solidFill>
              </a:rPr>
              <a:t>, height = </a:t>
            </a:r>
            <a:r>
              <a:rPr>
                <a:solidFill>
                  <a:srgbClr val="3127CD"/>
                </a:solidFill>
              </a:rPr>
              <a:t>0</a:t>
            </a:r>
            <a:r>
              <a:rPr>
                <a:solidFill>
                  <a:srgbClr val="000000"/>
                </a:solidFill>
              </a:rPr>
              <a:t>),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5              size = </a:t>
            </a:r>
            <a:r>
              <a:rPr>
                <a:solidFill>
                  <a:srgbClr val="3127CD"/>
                </a:solidFill>
              </a:rPr>
              <a:t>2</a:t>
            </a:r>
            <a:r>
              <a:rPr>
                <a:solidFill>
                  <a:srgbClr val="000000"/>
                </a:solidFill>
              </a:rPr>
              <a:t>) + </a:t>
            </a:r>
          </a:p>
          <a:p>
            <a:pPr defTabSz="457200">
              <a:defRPr sz="14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6   </a:t>
            </a:r>
            <a:r>
              <a:t># error bars </a:t>
            </a:r>
            <a:endParaRPr>
              <a:solidFill>
                <a:srgbClr val="000000"/>
              </a:solidFill>
            </a:endParaRP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7   </a:t>
            </a:r>
            <a:r>
              <a:rPr b="1">
                <a:solidFill>
                  <a:srgbClr val="000000"/>
                </a:solidFill>
              </a:rPr>
              <a:t>stat_summary</a:t>
            </a:r>
            <a:r>
              <a:rPr>
                <a:solidFill>
                  <a:srgbClr val="000000"/>
                </a:solidFill>
              </a:rPr>
              <a:t>(fun.data = </a:t>
            </a:r>
            <a:r>
              <a:rPr>
                <a:solidFill>
                  <a:srgbClr val="4C886B"/>
                </a:solidFill>
              </a:rPr>
              <a:t>"mean_cl_boot"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8                geom = </a:t>
            </a:r>
            <a:r>
              <a:rPr>
                <a:solidFill>
                  <a:srgbClr val="4C886B"/>
                </a:solidFill>
              </a:rPr>
              <a:t>"linerange"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9       color = </a:t>
            </a:r>
            <a:r>
              <a:rPr>
                <a:solidFill>
                  <a:srgbClr val="4C886B"/>
                </a:solidFill>
              </a:rPr>
              <a:t>"black"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10                     size = </a:t>
            </a:r>
            <a:r>
              <a:rPr>
                <a:solidFill>
                  <a:srgbClr val="3127CD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) + 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11         </a:t>
            </a:r>
            <a:r>
              <a:rPr>
                <a:solidFill>
                  <a:srgbClr val="4C886B"/>
                </a:solidFill>
              </a:rPr>
              <a:t># means</a:t>
            </a:r>
            <a:endParaRPr>
              <a:solidFill>
                <a:srgbClr val="000000"/>
              </a:solidFill>
            </a:endParaRP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12 </a:t>
            </a:r>
            <a:r>
              <a:rPr b="1">
                <a:solidFill>
                  <a:srgbClr val="000000"/>
                </a:solidFill>
              </a:rPr>
              <a:t>stat_summary</a:t>
            </a:r>
            <a:r>
              <a:rPr>
                <a:solidFill>
                  <a:srgbClr val="000000"/>
                </a:solidFill>
              </a:rPr>
              <a:t>(fun.y = </a:t>
            </a:r>
            <a:r>
              <a:rPr>
                <a:solidFill>
                  <a:srgbClr val="4C886B"/>
                </a:solidFill>
              </a:rPr>
              <a:t>"mean"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13                geom = </a:t>
            </a:r>
            <a:r>
              <a:rPr>
                <a:solidFill>
                  <a:srgbClr val="4C886B"/>
                </a:solidFill>
              </a:rPr>
              <a:t>"point"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14 shape = </a:t>
            </a:r>
            <a:r>
              <a:rPr>
                <a:solidFill>
                  <a:srgbClr val="3127CD"/>
                </a:solidFill>
              </a:rPr>
              <a:t>21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15                fill = </a:t>
            </a:r>
            <a:r>
              <a:rPr>
                <a:solidFill>
                  <a:srgbClr val="4C886B"/>
                </a:solidFill>
              </a:rPr>
              <a:t>"red"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16                color = </a:t>
            </a:r>
            <a:r>
              <a:rPr>
                <a:solidFill>
                  <a:srgbClr val="4C886B"/>
                </a:solidFill>
              </a:rPr>
              <a:t>"black"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17                size = </a:t>
            </a:r>
            <a:r>
              <a:rPr>
                <a:solidFill>
                  <a:srgbClr val="3127CD"/>
                </a:solidFill>
              </a:rPr>
              <a:t>4</a:t>
            </a:r>
            <a:r>
              <a:rPr>
                <a:solidFill>
                  <a:srgbClr val="000000"/>
                </a:solidFill>
              </a:rPr>
              <a:t>) </a:t>
            </a:r>
          </a:p>
        </p:txBody>
      </p:sp>
      <p:sp>
        <p:nvSpPr>
          <p:cNvPr id="315" name="1 ggplot(data = df.diamonds[1:150,], mapping = aes(x = color, y = price)) +…"/>
          <p:cNvSpPr txBox="1"/>
          <p:nvPr/>
        </p:nvSpPr>
        <p:spPr>
          <a:xfrm>
            <a:off x="4640808" y="5537200"/>
            <a:ext cx="7941314" cy="353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1 </a:t>
            </a:r>
            <a:r>
              <a:rPr b="1">
                <a:solidFill>
                  <a:srgbClr val="000000"/>
                </a:solidFill>
              </a:rPr>
              <a:t>ggplot</a:t>
            </a:r>
            <a:r>
              <a:rPr>
                <a:solidFill>
                  <a:srgbClr val="000000"/>
                </a:solidFill>
              </a:rPr>
              <a:t>(data = df.diamonds[</a:t>
            </a:r>
            <a:r>
              <a:rPr>
                <a:solidFill>
                  <a:srgbClr val="3127CD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:</a:t>
            </a:r>
            <a:r>
              <a:rPr>
                <a:solidFill>
                  <a:srgbClr val="3127CD"/>
                </a:solidFill>
              </a:rPr>
              <a:t>150</a:t>
            </a:r>
            <a:r>
              <a:rPr>
                <a:solidFill>
                  <a:srgbClr val="000000"/>
                </a:solidFill>
              </a:rPr>
              <a:t>,], mapping = </a:t>
            </a:r>
            <a:r>
              <a:rPr b="1">
                <a:solidFill>
                  <a:srgbClr val="000000"/>
                </a:solidFill>
              </a:rPr>
              <a:t>aes</a:t>
            </a:r>
            <a:r>
              <a:rPr>
                <a:solidFill>
                  <a:srgbClr val="000000"/>
                </a:solidFill>
              </a:rPr>
              <a:t>(x = color, y = price)) +</a:t>
            </a:r>
          </a:p>
          <a:p>
            <a:pPr defTabSz="457200">
              <a:defRPr sz="13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2   </a:t>
            </a:r>
            <a:r>
              <a:t># individual data points (jittered horizontally)</a:t>
            </a:r>
            <a:endParaRPr>
              <a:solidFill>
                <a:srgbClr val="000000"/>
              </a:solidFill>
            </a:endParaRP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3   </a:t>
            </a:r>
            <a:r>
              <a:rPr b="1">
                <a:solidFill>
                  <a:srgbClr val="000000"/>
                </a:solidFill>
              </a:rPr>
              <a:t>geom_point</a:t>
            </a:r>
            <a:r>
              <a:rPr>
                <a:solidFill>
                  <a:srgbClr val="000000"/>
                </a:solidFill>
              </a:rPr>
              <a:t>(alpha = </a:t>
            </a:r>
            <a:r>
              <a:rPr>
                <a:solidFill>
                  <a:srgbClr val="3127CD"/>
                </a:solidFill>
              </a:rPr>
              <a:t>0.2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4              position = </a:t>
            </a:r>
            <a:r>
              <a:rPr b="1">
                <a:solidFill>
                  <a:srgbClr val="000000"/>
                </a:solidFill>
              </a:rPr>
              <a:t>position_jitter</a:t>
            </a:r>
            <a:r>
              <a:rPr>
                <a:solidFill>
                  <a:srgbClr val="000000"/>
                </a:solidFill>
              </a:rPr>
              <a:t>(width = </a:t>
            </a:r>
            <a:r>
              <a:rPr>
                <a:solidFill>
                  <a:srgbClr val="3127CD"/>
                </a:solidFill>
              </a:rPr>
              <a:t>0.1</a:t>
            </a:r>
            <a:r>
              <a:rPr>
                <a:solidFill>
                  <a:srgbClr val="000000"/>
                </a:solidFill>
              </a:rPr>
              <a:t>, height = </a:t>
            </a:r>
            <a:r>
              <a:rPr>
                <a:solidFill>
                  <a:srgbClr val="3127CD"/>
                </a:solidFill>
              </a:rPr>
              <a:t>0</a:t>
            </a:r>
            <a:r>
              <a:rPr>
                <a:solidFill>
                  <a:srgbClr val="000000"/>
                </a:solidFill>
              </a:rPr>
              <a:t>),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5              size = </a:t>
            </a:r>
            <a:r>
              <a:rPr>
                <a:solidFill>
                  <a:srgbClr val="3127CD"/>
                </a:solidFill>
              </a:rPr>
              <a:t>2</a:t>
            </a:r>
            <a:r>
              <a:rPr>
                <a:solidFill>
                  <a:srgbClr val="000000"/>
                </a:solidFill>
              </a:rPr>
              <a:t>) + </a:t>
            </a:r>
          </a:p>
          <a:p>
            <a:pPr defTabSz="457200">
              <a:defRPr sz="13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6   </a:t>
            </a:r>
            <a:r>
              <a:t># error bars </a:t>
            </a:r>
            <a:endParaRPr>
              <a:solidFill>
                <a:srgbClr val="000000"/>
              </a:solidFill>
            </a:endParaRP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7   </a:t>
            </a:r>
            <a:r>
              <a:rPr b="1">
                <a:solidFill>
                  <a:srgbClr val="000000"/>
                </a:solidFill>
              </a:rPr>
              <a:t>stat_summary</a:t>
            </a:r>
            <a:r>
              <a:rPr>
                <a:solidFill>
                  <a:srgbClr val="000000"/>
                </a:solidFill>
              </a:rPr>
              <a:t>(fun.data = </a:t>
            </a:r>
            <a:r>
              <a:rPr>
                <a:solidFill>
                  <a:srgbClr val="4C886B"/>
                </a:solidFill>
              </a:rPr>
              <a:t>"mean_cl_boot"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8                geom = </a:t>
            </a:r>
            <a:r>
              <a:rPr>
                <a:solidFill>
                  <a:srgbClr val="4C886B"/>
                </a:solidFill>
              </a:rPr>
              <a:t>"linerange"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9                color = </a:t>
            </a:r>
            <a:r>
              <a:rPr>
                <a:solidFill>
                  <a:srgbClr val="4C886B"/>
                </a:solidFill>
              </a:rPr>
              <a:t>"black"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10                size = </a:t>
            </a:r>
            <a:r>
              <a:rPr>
                <a:solidFill>
                  <a:srgbClr val="3127CD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) + 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11   </a:t>
            </a:r>
            <a:r>
              <a:rPr>
                <a:solidFill>
                  <a:srgbClr val="4C886B"/>
                </a:solidFill>
              </a:rPr>
              <a:t># means</a:t>
            </a:r>
            <a:endParaRPr>
              <a:solidFill>
                <a:srgbClr val="000000"/>
              </a:solidFill>
            </a:endParaRP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12   </a:t>
            </a:r>
            <a:r>
              <a:rPr b="1">
                <a:solidFill>
                  <a:srgbClr val="000000"/>
                </a:solidFill>
              </a:rPr>
              <a:t>stat_summary</a:t>
            </a:r>
            <a:r>
              <a:rPr>
                <a:solidFill>
                  <a:srgbClr val="000000"/>
                </a:solidFill>
              </a:rPr>
              <a:t>(fun.y = </a:t>
            </a:r>
            <a:r>
              <a:rPr>
                <a:solidFill>
                  <a:srgbClr val="4C886B"/>
                </a:solidFill>
              </a:rPr>
              <a:t>"mean"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13                geom = </a:t>
            </a:r>
            <a:r>
              <a:rPr>
                <a:solidFill>
                  <a:srgbClr val="4C886B"/>
                </a:solidFill>
              </a:rPr>
              <a:t>"point"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14                shape = </a:t>
            </a:r>
            <a:r>
              <a:rPr>
                <a:solidFill>
                  <a:srgbClr val="3127CD"/>
                </a:solidFill>
              </a:rPr>
              <a:t>21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15                fill = </a:t>
            </a:r>
            <a:r>
              <a:rPr>
                <a:solidFill>
                  <a:srgbClr val="4C886B"/>
                </a:solidFill>
              </a:rPr>
              <a:t>"red"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16                color = </a:t>
            </a:r>
            <a:r>
              <a:rPr>
                <a:solidFill>
                  <a:srgbClr val="4C886B"/>
                </a:solidFill>
              </a:rPr>
              <a:t>"black"</a:t>
            </a:r>
            <a:r>
              <a:rPr>
                <a:solidFill>
                  <a:srgbClr val="000000"/>
                </a:solidFill>
              </a:rPr>
              <a:t>,</a:t>
            </a:r>
          </a:p>
          <a:p>
            <a:pPr defTabSz="457200">
              <a:defRPr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17                size = </a:t>
            </a:r>
            <a:r>
              <a:rPr>
                <a:solidFill>
                  <a:srgbClr val="3127CD"/>
                </a:solidFill>
              </a:rPr>
              <a:t>4</a:t>
            </a:r>
            <a:r>
              <a:rPr>
                <a:solidFill>
                  <a:srgbClr val="000000"/>
                </a:solidFill>
              </a:rPr>
              <a:t>) </a:t>
            </a:r>
          </a:p>
        </p:txBody>
      </p:sp>
      <p:sp>
        <p:nvSpPr>
          <p:cNvPr id="316" name="highlight code and press…"/>
          <p:cNvSpPr txBox="1"/>
          <p:nvPr/>
        </p:nvSpPr>
        <p:spPr>
          <a:xfrm>
            <a:off x="5861126" y="3378199"/>
            <a:ext cx="5160417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highlight code and press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cmd + i</a:t>
            </a:r>
          </a:p>
        </p:txBody>
      </p:sp>
      <p:sp>
        <p:nvSpPr>
          <p:cNvPr id="317" name="Line"/>
          <p:cNvSpPr/>
          <p:nvPr/>
        </p:nvSpPr>
        <p:spPr>
          <a:xfrm flipH="1" flipV="1">
            <a:off x="4826000" y="3809999"/>
            <a:ext cx="1093986" cy="1352700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 algn="ctr">
              <a:defRPr sz="3000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ommenting cod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Commenting code</a:t>
            </a:r>
          </a:p>
        </p:txBody>
      </p:sp>
      <p:sp>
        <p:nvSpPr>
          <p:cNvPr id="320" name="1 ggplot(data = df.diamonds,…"/>
          <p:cNvSpPr txBox="1"/>
          <p:nvPr/>
        </p:nvSpPr>
        <p:spPr>
          <a:xfrm>
            <a:off x="-88404" y="2108497"/>
            <a:ext cx="9442699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defRPr sz="2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1 </a:t>
            </a:r>
            <a:r>
              <a:rPr b="1">
                <a:solidFill>
                  <a:srgbClr val="000000"/>
                </a:solidFill>
              </a:rPr>
              <a:t>ggplot</a:t>
            </a:r>
            <a:r>
              <a:rPr>
                <a:solidFill>
                  <a:srgbClr val="000000"/>
                </a:solidFill>
              </a:rPr>
              <a:t>(data = df.diamonds,</a:t>
            </a:r>
          </a:p>
          <a:p>
            <a:pPr defTabSz="457200">
              <a:defRPr sz="2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2        mapping = </a:t>
            </a:r>
            <a:r>
              <a:rPr b="1">
                <a:solidFill>
                  <a:srgbClr val="000000"/>
                </a:solidFill>
              </a:rPr>
              <a:t>aes</a:t>
            </a:r>
            <a:r>
              <a:rPr>
                <a:solidFill>
                  <a:srgbClr val="000000"/>
                </a:solidFill>
              </a:rPr>
              <a:t>(x = color, y = price)) +</a:t>
            </a:r>
          </a:p>
          <a:p>
            <a:pPr defTabSz="457200">
              <a:defRPr sz="24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3   </a:t>
            </a:r>
            <a:r>
              <a:rPr b="1">
                <a:solidFill>
                  <a:srgbClr val="000000"/>
                </a:solidFill>
              </a:rPr>
              <a:t>stat_summary</a:t>
            </a:r>
            <a:r>
              <a:rPr>
                <a:solidFill>
                  <a:srgbClr val="000000"/>
                </a:solidFill>
              </a:rPr>
              <a:t>(fun.y = </a:t>
            </a:r>
            <a:r>
              <a:rPr>
                <a:solidFill>
                  <a:srgbClr val="4C886B"/>
                </a:solidFill>
              </a:rPr>
              <a:t>"mean"</a:t>
            </a:r>
            <a:r>
              <a:rPr>
                <a:solidFill>
                  <a:srgbClr val="000000"/>
                </a:solidFill>
              </a:rPr>
              <a:t>, geom = </a:t>
            </a:r>
            <a:r>
              <a:rPr>
                <a:solidFill>
                  <a:srgbClr val="4C886B"/>
                </a:solidFill>
              </a:rPr>
              <a:t>"bar"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21" name="1 # ggplot(data = df.diamonds,…"/>
          <p:cNvSpPr txBox="1"/>
          <p:nvPr/>
        </p:nvSpPr>
        <p:spPr>
          <a:xfrm>
            <a:off x="2954486" y="5461000"/>
            <a:ext cx="9808518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defRPr sz="24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1 </a:t>
            </a:r>
            <a:r>
              <a:t># ggplot(data = df.diamonds,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4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2 </a:t>
            </a:r>
            <a:r>
              <a:t>#        mapping = aes(x = color, y = price)) +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400">
                <a:solidFill>
                  <a:srgbClr val="4C88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3 </a:t>
            </a:r>
            <a:r>
              <a:t>#   stat_summary(fun.y = "mean", geom = "bar")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2" name="highlight code and press…"/>
          <p:cNvSpPr txBox="1"/>
          <p:nvPr/>
        </p:nvSpPr>
        <p:spPr>
          <a:xfrm>
            <a:off x="5522397" y="3441653"/>
            <a:ext cx="5160417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highlight code and press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cmd + shift + c</a:t>
            </a:r>
          </a:p>
        </p:txBody>
      </p:sp>
      <p:sp>
        <p:nvSpPr>
          <p:cNvPr id="323" name="Line"/>
          <p:cNvSpPr/>
          <p:nvPr/>
        </p:nvSpPr>
        <p:spPr>
          <a:xfrm flipH="1" flipV="1">
            <a:off x="4826000" y="3809999"/>
            <a:ext cx="1093986" cy="1352700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 algn="ctr">
              <a:defRPr sz="3000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Data wrangling 1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wrangling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Assignment operato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Assignment operator</a:t>
            </a:r>
          </a:p>
        </p:txBody>
      </p:sp>
      <p:sp>
        <p:nvSpPr>
          <p:cNvPr id="355" name="x &lt;- 1…"/>
          <p:cNvSpPr txBox="1"/>
          <p:nvPr/>
        </p:nvSpPr>
        <p:spPr>
          <a:xfrm>
            <a:off x="833922" y="2846873"/>
            <a:ext cx="8572957" cy="584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00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x </a:t>
            </a:r>
            <a:r>
              <a:rPr>
                <a:solidFill>
                  <a:srgbClr val="CD5C00"/>
                </a:solidFill>
              </a:rPr>
              <a:t>&lt;-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7CE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 </a:t>
            </a:r>
          </a:p>
          <a:p>
            <a:pPr defTabSz="457200">
              <a:defRPr sz="100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>
              <a:solidFill>
                <a:srgbClr val="000000"/>
              </a:solidFill>
            </a:endParaRPr>
          </a:p>
          <a:p>
            <a:pPr defTabSz="457200">
              <a:defRPr sz="100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000000"/>
                </a:solidFill>
              </a:rPr>
              <a:t>    x </a:t>
            </a:r>
            <a:r>
              <a:rPr>
                <a:solidFill>
                  <a:srgbClr val="CD5C00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7CE"/>
                </a:solidFill>
              </a:rPr>
              <a:t>1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359" name="Group"/>
          <p:cNvGrpSpPr/>
          <p:nvPr/>
        </p:nvGrpSpPr>
        <p:grpSpPr>
          <a:xfrm>
            <a:off x="5697958" y="1606991"/>
            <a:ext cx="4282233" cy="1800195"/>
            <a:chOff x="-182699" y="6069"/>
            <a:chExt cx="4282231" cy="1800194"/>
          </a:xfrm>
        </p:grpSpPr>
        <p:sp>
          <p:nvSpPr>
            <p:cNvPr id="356" name="assignment operator"/>
            <p:cNvSpPr txBox="1"/>
            <p:nvPr/>
          </p:nvSpPr>
          <p:spPr>
            <a:xfrm>
              <a:off x="-182700" y="6069"/>
              <a:ext cx="4282233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assignment operator</a:t>
              </a:r>
            </a:p>
          </p:txBody>
        </p:sp>
        <p:pic>
          <p:nvPicPr>
            <p:cNvPr id="357" name="Line Line" descr="Line Lin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7634872">
              <a:off x="532035" y="1016355"/>
              <a:ext cx="1061226" cy="457904"/>
            </a:xfrm>
            <a:prstGeom prst="rect">
              <a:avLst/>
            </a:prstGeom>
            <a:effectLst/>
          </p:spPr>
        </p:pic>
      </p:grpSp>
      <p:grpSp>
        <p:nvGrpSpPr>
          <p:cNvPr id="363" name="Group"/>
          <p:cNvGrpSpPr/>
          <p:nvPr/>
        </p:nvGrpSpPr>
        <p:grpSpPr>
          <a:xfrm>
            <a:off x="5662143" y="4054061"/>
            <a:ext cx="4510336" cy="1996625"/>
            <a:chOff x="-234191" y="-83139"/>
            <a:chExt cx="4510334" cy="1996623"/>
          </a:xfrm>
        </p:grpSpPr>
        <p:pic>
          <p:nvPicPr>
            <p:cNvPr id="360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894458">
              <a:off x="-842975" y="685895"/>
              <a:ext cx="1951043" cy="458555"/>
            </a:xfrm>
            <a:prstGeom prst="rect">
              <a:avLst/>
            </a:prstGeom>
            <a:effectLst/>
          </p:spPr>
        </p:pic>
        <p:sp>
          <p:nvSpPr>
            <p:cNvPr id="362" name="identical…"/>
            <p:cNvSpPr txBox="1"/>
            <p:nvPr/>
          </p:nvSpPr>
          <p:spPr>
            <a:xfrm>
              <a:off x="477355" y="644349"/>
              <a:ext cx="3798789" cy="952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identical</a:t>
              </a:r>
            </a:p>
            <a:p>
              <a:pPr>
                <a:defRPr sz="20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(except for some obscure cases)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" grpId="2" build="p" animBg="1" advAuto="0"/>
      <p:bldP spid="359" grpId="1" animBg="1" advAuto="0"/>
      <p:bldP spid="363" grpId="3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wo styles of coding in 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Two styles of coding in R</a:t>
            </a:r>
          </a:p>
        </p:txBody>
      </p:sp>
      <p:pic>
        <p:nvPicPr>
          <p:cNvPr id="36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79" y="1193800"/>
            <a:ext cx="5045233" cy="7364335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36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615" y="1193800"/>
            <a:ext cx="5305049" cy="7366000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674" y="285104"/>
            <a:ext cx="5865453" cy="6797868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372" name="Making Data Wrangling Suck Less"/>
          <p:cNvSpPr txBox="1"/>
          <p:nvPr/>
        </p:nvSpPr>
        <p:spPr>
          <a:xfrm>
            <a:off x="127609" y="7382811"/>
            <a:ext cx="12749582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73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6000" dirty="0"/>
              <a:t>Making Data Wrangling Less</a:t>
            </a:r>
            <a:r>
              <a:rPr lang="en-US" sz="6000" dirty="0"/>
              <a:t> Awful</a:t>
            </a:r>
            <a:endParaRPr sz="60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Studio time"/>
          <p:cNvSpPr txBox="1">
            <a:spLocks noGrp="1"/>
          </p:cNvSpPr>
          <p:nvPr>
            <p:ph type="body" idx="21"/>
          </p:nvPr>
        </p:nvSpPr>
        <p:spPr>
          <a:xfrm>
            <a:off x="1270000" y="971103"/>
            <a:ext cx="10464800" cy="1217762"/>
          </a:xfrm>
          <a:prstGeom prst="rect">
            <a:avLst/>
          </a:prstGeom>
        </p:spPr>
        <p:txBody>
          <a:bodyPr/>
          <a:lstStyle/>
          <a:p>
            <a:r>
              <a:t>RStudio time</a:t>
            </a:r>
          </a:p>
        </p:txBody>
      </p:sp>
      <p:pic>
        <p:nvPicPr>
          <p:cNvPr id="377" name="Image" descr="Image"/>
          <p:cNvPicPr>
            <a:picLocks noChangeAspect="1"/>
          </p:cNvPicPr>
          <p:nvPr/>
        </p:nvPicPr>
        <p:blipFill>
          <a:blip r:embed="rId2"/>
          <a:srcRect l="1505" t="20079" r="1405" b="20079"/>
          <a:stretch>
            <a:fillRect/>
          </a:stretch>
        </p:blipFill>
        <p:spPr>
          <a:xfrm>
            <a:off x="9846744" y="257802"/>
            <a:ext cx="3041258" cy="18481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634" y="2863201"/>
            <a:ext cx="8851532" cy="500010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best way to get help is by posting a reprex…"/>
          <p:cNvSpPr txBox="1">
            <a:spLocks noGrp="1"/>
          </p:cNvSpPr>
          <p:nvPr>
            <p:ph type="body" sz="quarter" idx="1"/>
          </p:nvPr>
        </p:nvSpPr>
        <p:spPr>
          <a:xfrm>
            <a:off x="1422400" y="1332160"/>
            <a:ext cx="10160000" cy="1727526"/>
          </a:xfrm>
          <a:prstGeom prst="rect">
            <a:avLst/>
          </a:prstGeom>
        </p:spPr>
        <p:txBody>
          <a:bodyPr/>
          <a:lstStyle/>
          <a:p>
            <a:r>
              <a:t>best way to get help is by posting a </a:t>
            </a:r>
            <a:r>
              <a:rPr>
                <a:latin typeface="+mn-lt"/>
                <a:ea typeface="+mn-ea"/>
                <a:cs typeface="+mn-cs"/>
                <a:sym typeface="Avenir Heavy"/>
              </a:rPr>
              <a:t>reprex</a:t>
            </a:r>
          </a:p>
          <a:p>
            <a:r>
              <a:rPr>
                <a:latin typeface="+mn-lt"/>
                <a:ea typeface="+mn-ea"/>
                <a:cs typeface="+mn-cs"/>
                <a:sym typeface="Avenir Heavy"/>
              </a:rPr>
              <a:t>reprex = </a:t>
            </a:r>
            <a:r>
              <a:t>reproducible example </a:t>
            </a:r>
          </a:p>
        </p:txBody>
      </p:sp>
      <p:sp>
        <p:nvSpPr>
          <p:cNvPr id="381" name="Reprex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Reprex</a:t>
            </a:r>
          </a:p>
        </p:txBody>
      </p:sp>
      <p:sp>
        <p:nvSpPr>
          <p:cNvPr id="38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07899" y="9105900"/>
            <a:ext cx="453239" cy="520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38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955" y="3027279"/>
            <a:ext cx="9910890" cy="59605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install.package(&quot;reprex&quot;)"/>
          <p:cNvSpPr txBox="1">
            <a:spLocks noGrp="1"/>
          </p:cNvSpPr>
          <p:nvPr>
            <p:ph type="body" sz="quarter" idx="1"/>
          </p:nvPr>
        </p:nvSpPr>
        <p:spPr>
          <a:xfrm>
            <a:off x="1422400" y="1332160"/>
            <a:ext cx="6987482" cy="70040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install.package("reprex")</a:t>
            </a:r>
          </a:p>
        </p:txBody>
      </p:sp>
      <p:sp>
        <p:nvSpPr>
          <p:cNvPr id="386" name="Reprex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Reprex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07899" y="9105900"/>
            <a:ext cx="453239" cy="520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388" name="Screen Shot 2019-01-24 at 12.45.45.png" descr="Screen Shot 2019-01-24 at 12.45.45.png"/>
          <p:cNvPicPr>
            <a:picLocks noChangeAspect="1"/>
          </p:cNvPicPr>
          <p:nvPr/>
        </p:nvPicPr>
        <p:blipFill>
          <a:blip r:embed="rId2"/>
          <a:srcRect t="3133" r="42515"/>
          <a:stretch>
            <a:fillRect/>
          </a:stretch>
        </p:blipFill>
        <p:spPr>
          <a:xfrm>
            <a:off x="1364118" y="3545849"/>
            <a:ext cx="9199098" cy="384127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2" name="Group"/>
          <p:cNvGrpSpPr/>
          <p:nvPr/>
        </p:nvGrpSpPr>
        <p:grpSpPr>
          <a:xfrm>
            <a:off x="1128387" y="7136940"/>
            <a:ext cx="2000826" cy="946178"/>
            <a:chOff x="0" y="-117718"/>
            <a:chExt cx="2000825" cy="946177"/>
          </a:xfrm>
        </p:grpSpPr>
        <p:sp>
          <p:nvSpPr>
            <p:cNvPr id="389" name="1. select the text"/>
            <p:cNvSpPr/>
            <p:nvPr/>
          </p:nvSpPr>
          <p:spPr>
            <a:xfrm>
              <a:off x="0" y="828458"/>
              <a:ext cx="200082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4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1. select the text</a:t>
              </a:r>
            </a:p>
          </p:txBody>
        </p:sp>
        <p:pic>
          <p:nvPicPr>
            <p:cNvPr id="390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9646063">
              <a:off x="713907" y="57082"/>
              <a:ext cx="721520" cy="246565"/>
            </a:xfrm>
            <a:prstGeom prst="rect">
              <a:avLst/>
            </a:prstGeom>
            <a:effectLst/>
          </p:spPr>
        </p:pic>
      </p:grpSp>
      <p:grpSp>
        <p:nvGrpSpPr>
          <p:cNvPr id="396" name="Group"/>
          <p:cNvGrpSpPr/>
          <p:nvPr/>
        </p:nvGrpSpPr>
        <p:grpSpPr>
          <a:xfrm>
            <a:off x="6582418" y="2831284"/>
            <a:ext cx="2000826" cy="948154"/>
            <a:chOff x="0" y="571499"/>
            <a:chExt cx="2000825" cy="948153"/>
          </a:xfrm>
        </p:grpSpPr>
        <p:sp>
          <p:nvSpPr>
            <p:cNvPr id="393" name="2. click on Addins"/>
            <p:cNvSpPr/>
            <p:nvPr/>
          </p:nvSpPr>
          <p:spPr>
            <a:xfrm>
              <a:off x="0" y="571499"/>
              <a:ext cx="200082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4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2. click on Addins</a:t>
              </a:r>
            </a:p>
          </p:txBody>
        </p:sp>
        <p:pic>
          <p:nvPicPr>
            <p:cNvPr id="394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377835">
              <a:off x="225030" y="1128684"/>
              <a:ext cx="536538" cy="246564"/>
            </a:xfrm>
            <a:prstGeom prst="rect">
              <a:avLst/>
            </a:prstGeom>
            <a:effectLst/>
          </p:spPr>
        </p:pic>
      </p:grpSp>
      <p:grpSp>
        <p:nvGrpSpPr>
          <p:cNvPr id="400" name="Group"/>
          <p:cNvGrpSpPr/>
          <p:nvPr/>
        </p:nvGrpSpPr>
        <p:grpSpPr>
          <a:xfrm>
            <a:off x="9226396" y="4205119"/>
            <a:ext cx="3581444" cy="295751"/>
            <a:chOff x="-29701" y="436879"/>
            <a:chExt cx="3581443" cy="295749"/>
          </a:xfrm>
        </p:grpSpPr>
        <p:sp>
          <p:nvSpPr>
            <p:cNvPr id="397" name="3. Render reprex"/>
            <p:cNvSpPr/>
            <p:nvPr/>
          </p:nvSpPr>
          <p:spPr>
            <a:xfrm>
              <a:off x="1550916" y="571499"/>
              <a:ext cx="200082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4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3. Render reprex</a:t>
              </a:r>
            </a:p>
          </p:txBody>
        </p:sp>
        <p:pic>
          <p:nvPicPr>
            <p:cNvPr id="39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679414">
              <a:off x="-25811" y="461472"/>
              <a:ext cx="1406853" cy="246564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" grpId="1" animBg="1" advAuto="0"/>
      <p:bldP spid="396" grpId="2" animBg="1" advAuto="0"/>
      <p:bldP spid="400" grpId="3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prex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Reprex</a:t>
            </a:r>
          </a:p>
        </p:txBody>
      </p:sp>
      <p:sp>
        <p:nvSpPr>
          <p:cNvPr id="40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07899" y="9105900"/>
            <a:ext cx="453239" cy="520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40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403" y="452280"/>
            <a:ext cx="4723561" cy="49801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7" name="Group"/>
          <p:cNvGrpSpPr/>
          <p:nvPr/>
        </p:nvGrpSpPr>
        <p:grpSpPr>
          <a:xfrm>
            <a:off x="1353316" y="5672309"/>
            <a:ext cx="10427707" cy="3235953"/>
            <a:chOff x="0" y="6437"/>
            <a:chExt cx="10427705" cy="3235952"/>
          </a:xfrm>
        </p:grpSpPr>
        <p:pic>
          <p:nvPicPr>
            <p:cNvPr id="405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40" y="731667"/>
              <a:ext cx="10405766" cy="25107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6" name="6. copy and paste from the viewer"/>
            <p:cNvSpPr txBox="1"/>
            <p:nvPr/>
          </p:nvSpPr>
          <p:spPr>
            <a:xfrm>
              <a:off x="0" y="6437"/>
              <a:ext cx="7006390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4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6. copy and paste from the viewer</a:t>
              </a:r>
            </a:p>
          </p:txBody>
        </p:sp>
      </p:grpSp>
      <p:grpSp>
        <p:nvGrpSpPr>
          <p:cNvPr id="411" name="Group"/>
          <p:cNvGrpSpPr/>
          <p:nvPr/>
        </p:nvGrpSpPr>
        <p:grpSpPr>
          <a:xfrm>
            <a:off x="5968205" y="1665864"/>
            <a:ext cx="2442726" cy="1821048"/>
            <a:chOff x="-102052" y="-107993"/>
            <a:chExt cx="2442725" cy="1821046"/>
          </a:xfrm>
        </p:grpSpPr>
        <p:sp>
          <p:nvSpPr>
            <p:cNvPr id="408" name="4. select this option"/>
            <p:cNvSpPr txBox="1"/>
            <p:nvPr/>
          </p:nvSpPr>
          <p:spPr>
            <a:xfrm>
              <a:off x="339847" y="49352"/>
              <a:ext cx="2000826" cy="1663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4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4. select this option</a:t>
              </a:r>
            </a:p>
          </p:txBody>
        </p:sp>
        <p:pic>
          <p:nvPicPr>
            <p:cNvPr id="409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3346259">
              <a:off x="-99917" y="68470"/>
              <a:ext cx="618752" cy="246565"/>
            </a:xfrm>
            <a:prstGeom prst="rect">
              <a:avLst/>
            </a:prstGeom>
            <a:effectLst/>
          </p:spPr>
        </p:pic>
      </p:grpSp>
      <p:grpSp>
        <p:nvGrpSpPr>
          <p:cNvPr id="415" name="Group"/>
          <p:cNvGrpSpPr/>
          <p:nvPr/>
        </p:nvGrpSpPr>
        <p:grpSpPr>
          <a:xfrm>
            <a:off x="9498564" y="868951"/>
            <a:ext cx="2736842" cy="375297"/>
            <a:chOff x="-48074" y="243940"/>
            <a:chExt cx="2736841" cy="375295"/>
          </a:xfrm>
        </p:grpSpPr>
        <p:sp>
          <p:nvSpPr>
            <p:cNvPr id="412" name="5. click render"/>
            <p:cNvSpPr/>
            <p:nvPr/>
          </p:nvSpPr>
          <p:spPr>
            <a:xfrm>
              <a:off x="687941" y="571499"/>
              <a:ext cx="200082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400">
                  <a:solidFill>
                    <a:schemeClr val="accent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5. click render</a:t>
              </a:r>
            </a:p>
          </p:txBody>
        </p:sp>
        <p:pic>
          <p:nvPicPr>
            <p:cNvPr id="41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1447726">
              <a:off x="-31272" y="308306"/>
              <a:ext cx="710594" cy="24656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" grpId="3" animBg="1" advAuto="0"/>
      <p:bldP spid="411" grpId="1" animBg="1" advAuto="0"/>
      <p:bldP spid="415" grpId="2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prex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Reprex</a:t>
            </a:r>
          </a:p>
        </p:txBody>
      </p:sp>
      <p:sp>
        <p:nvSpPr>
          <p:cNvPr id="41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07899" y="9105900"/>
            <a:ext cx="453239" cy="520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41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95" y="1986921"/>
            <a:ext cx="10684410" cy="5779758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7. make sure to load necessary packages in your reprex"/>
          <p:cNvSpPr txBox="1"/>
          <p:nvPr/>
        </p:nvSpPr>
        <p:spPr>
          <a:xfrm>
            <a:off x="6528868" y="2492301"/>
            <a:ext cx="5550963" cy="166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chemeClr val="accent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7. make sure to load necessary packages in your reprex</a:t>
            </a:r>
          </a:p>
        </p:txBody>
      </p:sp>
      <p:pic>
        <p:nvPicPr>
          <p:cNvPr id="42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1243621">
            <a:off x="3804674" y="2791329"/>
            <a:ext cx="2610009" cy="246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sych252histogram.png" descr="psych252histo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33" y="3768825"/>
            <a:ext cx="5396091" cy="5803935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425" name="Callout"/>
          <p:cNvSpPr/>
          <p:nvPr/>
        </p:nvSpPr>
        <p:spPr>
          <a:xfrm>
            <a:off x="4048688" y="980392"/>
            <a:ext cx="8449866" cy="4002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080" y="0"/>
                </a:moveTo>
                <a:cubicBezTo>
                  <a:pt x="4820" y="0"/>
                  <a:pt x="4610" y="444"/>
                  <a:pt x="4610" y="992"/>
                </a:cubicBezTo>
                <a:lnTo>
                  <a:pt x="4610" y="18603"/>
                </a:lnTo>
                <a:lnTo>
                  <a:pt x="0" y="21600"/>
                </a:lnTo>
                <a:lnTo>
                  <a:pt x="4744" y="19546"/>
                </a:lnTo>
                <a:cubicBezTo>
                  <a:pt x="4829" y="19731"/>
                  <a:pt x="4948" y="19848"/>
                  <a:pt x="5080" y="19848"/>
                </a:cubicBezTo>
                <a:lnTo>
                  <a:pt x="21130" y="19848"/>
                </a:lnTo>
                <a:cubicBezTo>
                  <a:pt x="21390" y="19848"/>
                  <a:pt x="21600" y="19404"/>
                  <a:pt x="21600" y="18856"/>
                </a:cubicBezTo>
                <a:lnTo>
                  <a:pt x="21600" y="992"/>
                </a:lnTo>
                <a:cubicBezTo>
                  <a:pt x="21600" y="444"/>
                  <a:pt x="21390" y="0"/>
                  <a:pt x="21130" y="0"/>
                </a:cubicBezTo>
                <a:lnTo>
                  <a:pt x="5080" y="0"/>
                </a:lnTo>
                <a:close/>
              </a:path>
            </a:pathLst>
          </a:custGeom>
          <a:solidFill>
            <a:srgbClr val="000000"/>
          </a:solidFill>
          <a:ln w="3810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>
              <a:defRPr sz="6300">
                <a:latin typeface="+mn-lt"/>
                <a:ea typeface="+mn-ea"/>
                <a:cs typeface="+mn-cs"/>
                <a:sym typeface="Avenir Heavy"/>
              </a:defRPr>
            </a:pPr>
            <a:endParaRPr/>
          </a:p>
        </p:txBody>
      </p:sp>
      <p:sp>
        <p:nvSpPr>
          <p:cNvPr id="426" name="stretch break!"/>
          <p:cNvSpPr txBox="1"/>
          <p:nvPr/>
        </p:nvSpPr>
        <p:spPr>
          <a:xfrm>
            <a:off x="6569639" y="3133822"/>
            <a:ext cx="5166132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6300">
                <a:solidFill>
                  <a:srgbClr val="FFFFFF"/>
                </a:solidFill>
              </a:defRPr>
            </a:lvl1pPr>
          </a:lstStyle>
          <a:p>
            <a:r>
              <a:t>stretch break! </a:t>
            </a:r>
          </a:p>
        </p:txBody>
      </p:sp>
      <p:pic>
        <p:nvPicPr>
          <p:cNvPr id="427" name="1minute-timer.mp4" descr="1minute-timer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11515" y="1183092"/>
            <a:ext cx="3515690" cy="1977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selected.gif" descr="selected.gif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680514" y="6617515"/>
            <a:ext cx="4890292" cy="27563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4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27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7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Using functions with tidyverse verb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578358">
              <a:defRPr sz="4950"/>
            </a:pPr>
            <a:r>
              <a:t>Using functions with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tidyverse</a:t>
            </a:r>
            <a:r>
              <a:t> verbs</a:t>
            </a:r>
          </a:p>
        </p:txBody>
      </p:sp>
      <p:grpSp>
        <p:nvGrpSpPr>
          <p:cNvPr id="436" name="Group"/>
          <p:cNvGrpSpPr/>
          <p:nvPr/>
        </p:nvGrpSpPr>
        <p:grpSpPr>
          <a:xfrm>
            <a:off x="4102133" y="1965317"/>
            <a:ext cx="8963387" cy="3101605"/>
            <a:chOff x="0" y="-446947"/>
            <a:chExt cx="8963386" cy="3101604"/>
          </a:xfrm>
        </p:grpSpPr>
        <p:pic>
          <p:nvPicPr>
            <p:cNvPr id="433" name="Line Line" descr="Line Lin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9237980">
              <a:off x="3617222" y="-70961"/>
              <a:ext cx="1349348" cy="457904"/>
            </a:xfrm>
            <a:prstGeom prst="rect">
              <a:avLst/>
            </a:prstGeom>
            <a:effectLst/>
          </p:spPr>
        </p:pic>
        <p:sp>
          <p:nvSpPr>
            <p:cNvPr id="435" name="fn = is.numeric…"/>
            <p:cNvSpPr txBox="1"/>
            <p:nvPr/>
          </p:nvSpPr>
          <p:spPr>
            <a:xfrm>
              <a:off x="0" y="521056"/>
              <a:ext cx="8963387" cy="213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marL="500062" indent="-500062">
                <a:buClr>
                  <a:srgbClr val="000000"/>
                </a:buClr>
                <a:buSzPct val="100000"/>
                <a:buChar char="•"/>
                <a:defRPr sz="3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fn = is.numeric</a:t>
              </a:r>
            </a:p>
            <a:p>
              <a:pPr marL="500062" indent="-500062">
                <a:buClr>
                  <a:srgbClr val="000000"/>
                </a:buClr>
                <a:buSzPct val="100000"/>
                <a:buChar char="•"/>
                <a:defRPr sz="3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fn = "is.numeric"</a:t>
              </a:r>
            </a:p>
            <a:p>
              <a:pPr marL="500062" indent="-500062">
                <a:buClr>
                  <a:srgbClr val="000000"/>
                </a:buClr>
                <a:buSzPct val="100000"/>
                <a:buChar char="•"/>
                <a:defRPr sz="3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fn = function(x){is.numeric(x)}</a:t>
              </a:r>
            </a:p>
            <a:p>
              <a:pPr marL="500062" indent="-500062">
                <a:buClr>
                  <a:srgbClr val="000000"/>
                </a:buClr>
                <a:buSzPct val="100000"/>
                <a:buChar char="•"/>
                <a:defRPr sz="3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fn = ~ is.numeric(.)</a:t>
              </a:r>
            </a:p>
          </p:txBody>
        </p:sp>
      </p:grpSp>
      <p:grpSp>
        <p:nvGrpSpPr>
          <p:cNvPr id="439" name="Group"/>
          <p:cNvGrpSpPr/>
          <p:nvPr/>
        </p:nvGrpSpPr>
        <p:grpSpPr>
          <a:xfrm>
            <a:off x="270060" y="2765149"/>
            <a:ext cx="3833180" cy="2166618"/>
            <a:chOff x="0" y="0"/>
            <a:chExt cx="3833179" cy="2166616"/>
          </a:xfrm>
        </p:grpSpPr>
        <p:sp>
          <p:nvSpPr>
            <p:cNvPr id="437" name="my recommendation"/>
            <p:cNvSpPr txBox="1"/>
            <p:nvPr/>
          </p:nvSpPr>
          <p:spPr>
            <a:xfrm>
              <a:off x="0" y="-1"/>
              <a:ext cx="3197296" cy="1092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solidFill>
                    <a:schemeClr val="accent1"/>
                  </a:solidFill>
                  <a:latin typeface="Marker Felt"/>
                  <a:ea typeface="Marker Felt"/>
                  <a:cs typeface="Marker Felt"/>
                  <a:sym typeface="Marker Felt"/>
                </a:defRPr>
              </a:lvl1pPr>
            </a:lstStyle>
            <a:p>
              <a:r>
                <a:t>my recommendation</a:t>
              </a:r>
            </a:p>
          </p:txBody>
        </p:sp>
        <p:pic>
          <p:nvPicPr>
            <p:cNvPr id="446" name="Connection Line" descr="Connection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4911" y="1129068"/>
              <a:ext cx="2408269" cy="1037549"/>
            </a:xfrm>
            <a:prstGeom prst="rect">
              <a:avLst/>
            </a:prstGeom>
            <a:effectLst/>
          </p:spPr>
        </p:pic>
      </p:grpSp>
      <p:sp>
        <p:nvSpPr>
          <p:cNvPr id="440" name="flexible, short, works well with other verbs we'll learn about later"/>
          <p:cNvSpPr txBox="1"/>
          <p:nvPr/>
        </p:nvSpPr>
        <p:spPr>
          <a:xfrm>
            <a:off x="252161" y="5258034"/>
            <a:ext cx="7056176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t>flexible, short, works well with other verbs we'll learn about later</a:t>
            </a:r>
          </a:p>
        </p:txBody>
      </p:sp>
      <p:sp>
        <p:nvSpPr>
          <p:cNvPr id="441" name="fn = ~ !is.numeric(.)"/>
          <p:cNvSpPr txBox="1"/>
          <p:nvPr/>
        </p:nvSpPr>
        <p:spPr>
          <a:xfrm>
            <a:off x="4102133" y="6795347"/>
            <a:ext cx="6376021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500062" indent="-500062">
              <a:buSzPct val="100000"/>
              <a:buChar char="•"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204A87"/>
                </a:solidFill>
              </a:rPr>
              <a:t>fn = </a:t>
            </a:r>
            <a:r>
              <a:t>~ !is.numeric(.)</a:t>
            </a:r>
          </a:p>
        </p:txBody>
      </p:sp>
      <p:sp>
        <p:nvSpPr>
          <p:cNvPr id="442" name="1 df.starwars %&gt;%…"/>
          <p:cNvSpPr txBox="1"/>
          <p:nvPr/>
        </p:nvSpPr>
        <p:spPr>
          <a:xfrm>
            <a:off x="2101143" y="1175870"/>
            <a:ext cx="8802514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defRPr sz="30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    1 df.starwars </a:t>
            </a:r>
            <a:r>
              <a:rPr>
                <a:solidFill>
                  <a:srgbClr val="CD5C00"/>
                </a:solidFill>
              </a:rPr>
              <a:t>%&gt;%</a:t>
            </a:r>
            <a:r>
              <a:rPr>
                <a:solidFill>
                  <a:srgbClr val="000000"/>
                </a:solidFill>
              </a:rPr>
              <a:t> </a:t>
            </a:r>
          </a:p>
          <a:p>
            <a:pPr defTabSz="457200">
              <a:defRPr sz="30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    2   </a:t>
            </a:r>
            <a:r>
              <a:rPr b="1">
                <a:solidFill>
                  <a:srgbClr val="204A87"/>
                </a:solidFill>
              </a:rPr>
              <a:t>select</a:t>
            </a:r>
            <a:r>
              <a:rPr>
                <a:solidFill>
                  <a:srgbClr val="CD5C00"/>
                </a:solidFill>
              </a:rPr>
              <a:t>(</a:t>
            </a:r>
            <a:r>
              <a:rPr b="1">
                <a:solidFill>
                  <a:srgbClr val="204A87"/>
                </a:solidFill>
              </a:rPr>
              <a:t>where</a:t>
            </a:r>
            <a:r>
              <a:rPr>
                <a:solidFill>
                  <a:srgbClr val="CD5C00"/>
                </a:solidFill>
              </a:rPr>
              <a:t>(</a:t>
            </a:r>
            <a:r>
              <a:rPr>
                <a:solidFill>
                  <a:srgbClr val="000000"/>
                </a:solidFill>
              </a:rPr>
              <a:t>fn </a:t>
            </a:r>
            <a:r>
              <a:rPr>
                <a:solidFill>
                  <a:srgbClr val="CD5C00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is.numeric</a:t>
            </a:r>
            <a:r>
              <a:rPr>
                <a:solidFill>
                  <a:srgbClr val="CD5C00"/>
                </a:solidFill>
              </a:rPr>
              <a:t>))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445" name="Group"/>
          <p:cNvGrpSpPr/>
          <p:nvPr/>
        </p:nvGrpSpPr>
        <p:grpSpPr>
          <a:xfrm>
            <a:off x="6765851" y="7472881"/>
            <a:ext cx="5291188" cy="1818201"/>
            <a:chOff x="-2093891" y="-478350"/>
            <a:chExt cx="5291187" cy="1818200"/>
          </a:xfrm>
        </p:grpSpPr>
        <p:sp>
          <p:nvSpPr>
            <p:cNvPr id="443" name="select all variables that are not numeric"/>
            <p:cNvSpPr txBox="1"/>
            <p:nvPr/>
          </p:nvSpPr>
          <p:spPr>
            <a:xfrm>
              <a:off x="0" y="-247650"/>
              <a:ext cx="3197296" cy="1587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>
                  <a:solidFill>
                    <a:schemeClr val="accent1"/>
                  </a:solidFill>
                  <a:latin typeface="Marker Felt"/>
                  <a:ea typeface="Marker Felt"/>
                  <a:cs typeface="Marker Felt"/>
                  <a:sym typeface="Marker Felt"/>
                </a:defRPr>
              </a:lvl1pPr>
            </a:lstStyle>
            <a:p>
              <a:r>
                <a:t>select all variables that are not numeric</a:t>
              </a:r>
            </a:p>
          </p:txBody>
        </p:sp>
        <p:pic>
          <p:nvPicPr>
            <p:cNvPr id="448" name="Connection Line" descr="Connection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093892" y="-478351"/>
              <a:ext cx="2259029" cy="127404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" grpId="1" animBg="1" advAuto="0"/>
      <p:bldP spid="439" grpId="2" animBg="1" advAuto="0"/>
      <p:bldP spid="440" grpId="3" animBg="1" advAuto="0"/>
      <p:bldP spid="441" grpId="4" animBg="1" advAuto="0"/>
      <p:bldP spid="445" grpId="5" animBg="1" advAuto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Avenir Book"/>
        <a:ea typeface="Avenir Book"/>
        <a:cs typeface="Avenir Book"/>
      </a:majorFont>
      <a:minorFont>
        <a:latin typeface="Avenir Heavy"/>
        <a:ea typeface="Avenir Heavy"/>
        <a:cs typeface="Avenir Heavy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Avenir Book"/>
        <a:ea typeface="Avenir Book"/>
        <a:cs typeface="Avenir Book"/>
      </a:majorFont>
      <a:minorFont>
        <a:latin typeface="Avenir Heavy"/>
        <a:ea typeface="Avenir Heavy"/>
        <a:cs typeface="Avenir Heavy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699</Words>
  <Application>Microsoft Macintosh PowerPoint</Application>
  <PresentationFormat>Custom</PresentationFormat>
  <Paragraphs>101</Paragraphs>
  <Slides>17</Slides>
  <Notes>2</Notes>
  <HiddenSlides>1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Avenir Book</vt:lpstr>
      <vt:lpstr>Avenir Next Regular</vt:lpstr>
      <vt:lpstr>Courier New</vt:lpstr>
      <vt:lpstr>Helvetica Neue</vt:lpstr>
      <vt:lpstr>White</vt:lpstr>
      <vt:lpstr>Wrangling data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Alan B Cobo-Lewis</cp:lastModifiedBy>
  <cp:revision>3</cp:revision>
  <dcterms:modified xsi:type="dcterms:W3CDTF">2025-02-11T04:04:33Z</dcterms:modified>
</cp:coreProperties>
</file>